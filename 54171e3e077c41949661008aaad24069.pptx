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16603318" r:id="rId5"/>
    <p:sldId id="263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BF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33" autoAdjust="0"/>
    <p:restoredTop sz="89447" autoAdjust="0"/>
  </p:normalViewPr>
  <p:slideViewPr>
    <p:cSldViewPr snapToGrid="0">
      <p:cViewPr varScale="1">
        <p:scale>
          <a:sx n="91" d="100"/>
          <a:sy n="91" d="100"/>
        </p:scale>
        <p:origin x="36" y="51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-2511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D73A4-D591-43FD-8D34-9F7EAF07063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E0668-6117-44A7-A45D-B368D1398D8B}" type="slidenum">
              <a:rPr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E0668-6117-44A7-A45D-B368D1398D8B}" type="slidenum">
              <a:rPr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E0668-6117-44A7-A45D-B368D1398D8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7416F-89A5-43FA-9548-326EF7661706}" type="slidenum">
              <a:rPr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57416F-89A5-43FA-9548-326EF7661706}" type="slidenum">
              <a:rPr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D:\工作\2013暑期工作会PPT\背景图3.jpg"/>
          <p:cNvPicPr>
            <a:picLocks noChangeAspect="1" noChangeArrowheads="1"/>
          </p:cNvPicPr>
          <p:nvPr userDrawn="1"/>
        </p:nvPicPr>
        <p:blipFill>
          <a:blip r:embed="rId2"/>
          <a:srcRect l="8135" t="52003"/>
          <a:stretch>
            <a:fillRect/>
          </a:stretch>
        </p:blipFill>
        <p:spPr bwMode="auto">
          <a:xfrm>
            <a:off x="0" y="4149725"/>
            <a:ext cx="12192000" cy="270827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3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1828800" y="4267200"/>
            <a:ext cx="8534400" cy="1371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3"/>
          <a:srcRect l="15836" t="41111" r="14985" b="41111"/>
          <a:stretch>
            <a:fillRect/>
          </a:stretch>
        </p:blipFill>
        <p:spPr bwMode="auto">
          <a:xfrm>
            <a:off x="26505" y="29817"/>
            <a:ext cx="4240696" cy="71313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74134" y="0"/>
            <a:ext cx="11213041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521759" y="914400"/>
            <a:ext cx="11165416" cy="5191125"/>
          </a:xfrm>
          <a:prstGeom prst="rect">
            <a:avLst/>
          </a:prstGeom>
        </p:spPr>
        <p:txBody>
          <a:bodyPr/>
          <a:lstStyle>
            <a:lvl1pPr marL="234950" indent="-2349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7AC5-5652-486E-8F10-DD63835F2F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147-EDA8-46B0-BC70-BEBF0E91C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C7AC5-5652-486E-8F10-DD63835F2F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6147-EDA8-46B0-BC70-BEBF0E91C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371" y="188640"/>
            <a:ext cx="9121013" cy="476672"/>
          </a:xfrm>
          <a:prstGeom prst="rect">
            <a:avLst/>
          </a:prstGeom>
        </p:spPr>
        <p:txBody>
          <a:bodyPr anchor="ctr" anchorCtr="0"/>
          <a:lstStyle>
            <a:lvl1pPr algn="l">
              <a:defRPr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98438"/>
            <a:ext cx="11521280" cy="56626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 eaLnBrk="0" hangingPunct="0">
              <a:buFont typeface="Arial" panose="020B0604020202090204" pitchFamily="34" charset="0"/>
              <a:buNone/>
              <a:defRPr/>
            </a:pPr>
            <a:endParaRPr lang="en-US" altLang="zh-CN" sz="280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 userDrawn="1">
            <p:ph type="sldNum" sz="quarter" idx="11"/>
          </p:nvPr>
        </p:nvSpPr>
        <p:spPr>
          <a:xfrm>
            <a:off x="11472333" y="404813"/>
            <a:ext cx="719667" cy="412750"/>
          </a:xfrm>
          <a:ln>
            <a:miter lim="800000"/>
          </a:ln>
        </p:spPr>
        <p:txBody>
          <a:bodyPr/>
          <a:lstStyle>
            <a:lvl1pPr algn="r">
              <a:defRPr sz="1400">
                <a:solidFill>
                  <a:srgbClr val="000000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C3934957-00BC-4EF7-9686-5EB32B13AF42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31801" y="115888"/>
            <a:ext cx="9793817" cy="68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57600" tIns="46038" rIns="92075" bIns="46038" numCol="1" anchor="ctr" anchorCtr="0" compatLnSpc="1"/>
          <a:lstStyle/>
          <a:p>
            <a:pPr lvl="0"/>
            <a:endParaRPr lang="zh-CN" altLang="zh-CN" dirty="0"/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450851" y="6215063"/>
            <a:ext cx="11334749" cy="0"/>
          </a:xfrm>
          <a:prstGeom prst="line">
            <a:avLst/>
          </a:prstGeom>
          <a:noFill/>
          <a:ln w="47625" cmpd="thickThin">
            <a:solidFill>
              <a:srgbClr val="333399"/>
            </a:solidFill>
            <a:round/>
          </a:ln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1800">
              <a:solidFill>
                <a:srgbClr val="000000"/>
              </a:solidFill>
              <a:latin typeface="Verdana" panose="020B0804030504040204" pitchFamily="34" charset="0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450851" y="779463"/>
            <a:ext cx="11233149" cy="0"/>
          </a:xfrm>
          <a:prstGeom prst="line">
            <a:avLst/>
          </a:prstGeom>
          <a:noFill/>
          <a:ln w="38100" cmpd="sng">
            <a:solidFill>
              <a:srgbClr val="333399"/>
            </a:solidFill>
            <a:round/>
          </a:ln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1800">
              <a:solidFill>
                <a:srgbClr val="000000"/>
              </a:solidFill>
              <a:latin typeface="Verdana" panose="020B0804030504040204" pitchFamily="34" charset="0"/>
            </a:endParaRPr>
          </a:p>
        </p:txBody>
      </p:sp>
      <p:sp>
        <p:nvSpPr>
          <p:cNvPr id="5" name="Line 6"/>
          <p:cNvSpPr>
            <a:spLocks noChangeAspect="1" noChangeShapeType="1"/>
          </p:cNvSpPr>
          <p:nvPr/>
        </p:nvSpPr>
        <p:spPr bwMode="auto">
          <a:xfrm>
            <a:off x="450851" y="847725"/>
            <a:ext cx="7774516" cy="1588"/>
          </a:xfrm>
          <a:prstGeom prst="line">
            <a:avLst/>
          </a:prstGeom>
          <a:noFill/>
          <a:ln w="12700" cmpd="sng">
            <a:solidFill>
              <a:srgbClr val="333399"/>
            </a:solidFill>
            <a:round/>
          </a:ln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1800">
              <a:solidFill>
                <a:srgbClr val="000000"/>
              </a:solidFill>
              <a:latin typeface="Verdana" panose="020B0804030504040204" pitchFamily="34" charset="0"/>
            </a:endParaRPr>
          </a:p>
        </p:txBody>
      </p:sp>
      <p:sp>
        <p:nvSpPr>
          <p:cNvPr id="6" name="Line 7"/>
          <p:cNvSpPr>
            <a:spLocks noChangeAspect="1" noChangeShapeType="1"/>
          </p:cNvSpPr>
          <p:nvPr/>
        </p:nvSpPr>
        <p:spPr bwMode="auto">
          <a:xfrm>
            <a:off x="450851" y="890588"/>
            <a:ext cx="7774516" cy="3175"/>
          </a:xfrm>
          <a:prstGeom prst="line">
            <a:avLst/>
          </a:prstGeom>
          <a:noFill/>
          <a:ln w="12700" cmpd="sng">
            <a:solidFill>
              <a:srgbClr val="333399"/>
            </a:solidFill>
            <a:round/>
          </a:ln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1800">
              <a:solidFill>
                <a:srgbClr val="000000"/>
              </a:solidFill>
              <a:latin typeface="Verdana" panose="020B0804030504040204" pitchFamily="34" charset="0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11074400" cy="5174154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92075" rIns="92075" bIns="92075" numCol="1" anchor="t" anchorCtr="0" compatLnSpc="1"/>
          <a:lstStyle/>
          <a:p>
            <a:pPr lvl="0"/>
            <a:r>
              <a:rPr lang="zh-CN" altLang="zh-CN" dirty="0"/>
              <a:t>Click to edit Master text styles</a:t>
            </a:r>
            <a:endParaRPr lang="zh-CN" altLang="zh-CN" dirty="0"/>
          </a:p>
        </p:txBody>
      </p:sp>
      <p:sp>
        <p:nvSpPr>
          <p:cNvPr id="8" name="直角三角形 11"/>
          <p:cNvSpPr/>
          <p:nvPr userDrawn="1"/>
        </p:nvSpPr>
        <p:spPr bwMode="auto">
          <a:xfrm rot="10800000">
            <a:off x="11353798" y="0"/>
            <a:ext cx="838199" cy="838200"/>
          </a:xfrm>
          <a:prstGeom prst="rtTriangle">
            <a:avLst/>
          </a:prstGeom>
          <a:solidFill>
            <a:srgbClr val="3762A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44000" tIns="72000" rIns="144000" bIns="72000"/>
          <a:lstStyle/>
          <a:p>
            <a:pPr marL="182880" lvl="0" indent="-66675" algn="ctr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tabLst>
                <a:tab pos="812800" algn="l"/>
              </a:tabLst>
            </a:pP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9" name="TextBox 11"/>
          <p:cNvSpPr txBox="1">
            <a:spLocks noChangeArrowheads="1"/>
          </p:cNvSpPr>
          <p:nvPr userDrawn="1"/>
        </p:nvSpPr>
        <p:spPr bwMode="auto">
          <a:xfrm>
            <a:off x="11734800" y="76200"/>
            <a:ext cx="8128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 typeface="Arial" panose="020B0604020202090204" pitchFamily="34" charset="0"/>
              <a:buNone/>
              <a:defRPr/>
            </a:pPr>
            <a:fld id="{960BA522-350D-4F01-A32B-DCC3EDCDEB9C}" type="slidenum">
              <a:rPr/>
            </a:fld>
            <a:endParaRPr lang="zh-CN" altLang="en-US" sz="2400" dirty="0">
              <a:solidFill>
                <a:schemeClr val="bg1"/>
              </a:solidFill>
              <a:latin typeface="+mj-lt"/>
              <a:ea typeface="微软雅黑" panose="020B0503020204020204" pitchFamily="34" charset="-122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7" cstate="print"/>
          <a:srcRect l="15836" t="41111" r="14985" b="41111"/>
          <a:stretch>
            <a:fillRect/>
          </a:stretch>
        </p:blipFill>
        <p:spPr bwMode="auto">
          <a:xfrm>
            <a:off x="431801" y="6305485"/>
            <a:ext cx="3311524" cy="487983"/>
          </a:xfrm>
          <a:prstGeom prst="rect">
            <a:avLst/>
          </a:prstGeom>
          <a:noFill/>
        </p:spPr>
      </p:pic>
      <p:sp>
        <p:nvSpPr>
          <p:cNvPr id="11" name="矩形 13"/>
          <p:cNvSpPr/>
          <p:nvPr userDrawn="1"/>
        </p:nvSpPr>
        <p:spPr bwMode="auto">
          <a:xfrm>
            <a:off x="-3" y="5648324"/>
            <a:ext cx="12192000" cy="12096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804030504040204" pitchFamily="34" charset="0"/>
              <a:ea typeface="宋体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 rotWithShape="1">
          <a:blip r:embed="rId7" cstate="print"/>
          <a:srcRect l="15836" t="41111" r="14985" b="41111"/>
          <a:stretch>
            <a:fillRect/>
          </a:stretch>
        </p:blipFill>
        <p:spPr bwMode="auto">
          <a:xfrm>
            <a:off x="77305" y="6308548"/>
            <a:ext cx="2883609" cy="48492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zh-CN" altLang="zh-CN" sz="3600" b="1" dirty="0">
          <a:solidFill>
            <a:srgbClr val="3762AF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333399"/>
          </a:solidFill>
          <a:latin typeface="Times New Roman" panose="02020503050405090304" pitchFamily="18" charset="0"/>
          <a:ea typeface="黑体" panose="02010609060101010101" pitchFamily="2" charset="-122"/>
        </a:defRPr>
      </a:lvl9pPr>
    </p:titleStyle>
    <p:bodyStyle>
      <a:lvl1pPr marL="234950" indent="-234950" algn="l" defTabSz="757555" rtl="0" eaLnBrk="0" fontAlgn="base" hangingPunct="0">
        <a:spcBef>
          <a:spcPct val="50000"/>
        </a:spcBef>
        <a:spcAft>
          <a:spcPct val="0"/>
        </a:spcAft>
        <a:buChar char="•"/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68325" indent="-219075" algn="l" defTabSz="757555" rtl="0" eaLnBrk="0" fontAlgn="base" hangingPunct="0">
        <a:spcBef>
          <a:spcPct val="25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908050" indent="-222250" algn="l" defTabSz="757555" rtl="0" eaLnBrk="0" fontAlgn="base" hangingPunct="0">
        <a:spcBef>
          <a:spcPct val="20000"/>
        </a:spcBef>
        <a:spcAft>
          <a:spcPct val="0"/>
        </a:spcAft>
        <a:buChar char="•"/>
        <a:defRPr sz="1900">
          <a:solidFill>
            <a:schemeClr val="tx1"/>
          </a:solidFill>
          <a:latin typeface="+mn-lt"/>
          <a:ea typeface="+mn-ea"/>
        </a:defRPr>
      </a:lvl3pPr>
      <a:lvl4pPr marL="1257300" indent="-234950" algn="l" defTabSz="757555" rtl="0" eaLnBrk="0" fontAlgn="base" hangingPunct="0">
        <a:spcBef>
          <a:spcPct val="15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1606550" indent="-234950" algn="l" defTabSz="757555" rtl="0" eaLnBrk="0" fontAlgn="base" hangingPunct="0">
        <a:spcBef>
          <a:spcPct val="1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063750" indent="-234950" algn="l" defTabSz="757555" rtl="0" eaLnBrk="0" fontAlgn="base" hangingPunct="0">
        <a:spcBef>
          <a:spcPct val="1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2520950" indent="-234950" algn="l" defTabSz="757555" rtl="0" eaLnBrk="0" fontAlgn="base" hangingPunct="0">
        <a:spcBef>
          <a:spcPct val="1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2978150" indent="-234950" algn="l" defTabSz="757555" rtl="0" eaLnBrk="0" fontAlgn="base" hangingPunct="0">
        <a:spcBef>
          <a:spcPct val="1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3435350" indent="-234950" algn="l" defTabSz="757555" rtl="0" eaLnBrk="0" fontAlgn="base" hangingPunct="0">
        <a:spcBef>
          <a:spcPct val="1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jpe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7.jpeg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 bwMode="auto">
          <a:xfrm>
            <a:off x="998220" y="3299528"/>
            <a:ext cx="10195560" cy="1447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57600" tIns="46038" rIns="92075" bIns="46038" anchor="ctr"/>
          <a:lstStyle/>
          <a:p>
            <a: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1.1 </a:t>
            </a:r>
            <a:r>
              <a:rPr lang="zh-CN" altLang="en-US" sz="4400" dirty="0"/>
              <a:t>什么是</a:t>
            </a:r>
            <a:r>
              <a:rPr lang="zh-CN" altLang="en-US" sz="4400" dirty="0"/>
              <a:t>人工智能 </a:t>
            </a:r>
            <a:endParaRPr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人工智能通识课课程组</a:t>
            </a:r>
            <a:endParaRPr lang="en-US" altLang="zh-CN" sz="28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1801" y="115888"/>
            <a:ext cx="11226799" cy="685800"/>
          </a:xfrm>
        </p:spPr>
        <p:txBody>
          <a:bodyPr/>
          <a:lstStyle/>
          <a:p>
            <a:pPr algn="ctr">
              <a:defRPr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什么是人工智能</a:t>
            </a:r>
            <a:endParaRPr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31802" y="801688"/>
            <a:ext cx="7159170" cy="4530811"/>
          </a:xfrm>
        </p:spPr>
        <p:txBody>
          <a:bodyPr/>
          <a:lstStyle/>
          <a:p>
            <a:r>
              <a:rPr lang="zh-CN" altLang="en-US" sz="3200" dirty="0"/>
              <a:t>什么是人类的智能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感知：</a:t>
            </a:r>
            <a:r>
              <a:rPr lang="zh-CN" altLang="en-US" dirty="0"/>
              <a:t>通过多种感官接收和处理外界信息，为认知和决策提供支持。包括：视觉、听觉、触觉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认知：</a:t>
            </a:r>
            <a:r>
              <a:rPr lang="zh-CN" altLang="en-US" dirty="0"/>
              <a:t>人类处理信息、理解世界并进行推理的能力，是更高层次的智能表现。它涵盖了自然语言处理、知识与记忆、推理与逻辑、情感认知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决策与动作：</a:t>
            </a:r>
            <a:r>
              <a:rPr lang="zh-CN" altLang="en-US" kern="1200" dirty="0"/>
              <a:t>人类智能的输出层面，将感知和认知转化为实际行为。这一层面的智能涉及计划、 选择以及在环境中执行任务。</a:t>
            </a:r>
            <a:endParaRPr lang="en-US" altLang="zh-CN" kern="1200" dirty="0"/>
          </a:p>
          <a:p>
            <a:pPr marL="349250" lvl="1" indent="0">
              <a:buNone/>
            </a:pPr>
            <a:r>
              <a:rPr lang="zh-CN" altLang="en-US" dirty="0"/>
              <a:t> </a:t>
            </a:r>
            <a:endParaRPr lang="zh-CN" altLang="en-US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7327" y="2879395"/>
            <a:ext cx="4131926" cy="156971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972" y="911030"/>
            <a:ext cx="4448175" cy="1859023"/>
          </a:xfrm>
          <a:prstGeom prst="rect">
            <a:avLst/>
          </a:prstGeom>
        </p:spPr>
      </p:pic>
      <p:pic>
        <p:nvPicPr>
          <p:cNvPr id="1028" name="Picture 4" descr="壁仞科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245" y="4470400"/>
            <a:ext cx="4267199" cy="216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壁仞科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44" y="1632073"/>
            <a:ext cx="7325525" cy="452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431801" y="115888"/>
            <a:ext cx="11226799" cy="685800"/>
          </a:xfrm>
        </p:spPr>
        <p:txBody>
          <a:bodyPr/>
          <a:lstStyle/>
          <a:p>
            <a:pPr algn="ctr">
              <a:defRPr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什么是人工智能</a:t>
            </a:r>
            <a:endParaRPr dirty="0"/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431801" y="1200558"/>
            <a:ext cx="4419600" cy="1600200"/>
          </a:xfrm>
          <a:prstGeom prst="flowChartAlternateProcess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像人一样</a:t>
            </a:r>
            <a:r>
              <a:rPr lang="zh-CN" altLang="en-US" sz="2400" b="1" dirty="0">
                <a:solidFill>
                  <a:srgbClr val="EA703A"/>
                </a:solidFill>
                <a:latin typeface="Times New Roman" panose="02020503050405090304" pitchFamily="18" charset="0"/>
                <a:ea typeface="宋体" pitchFamily="2" charset="-122"/>
              </a:rPr>
              <a:t>观察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和</a:t>
            </a:r>
            <a:r>
              <a:rPr lang="zh-CN" altLang="en-US" sz="2400" b="1" dirty="0">
                <a:solidFill>
                  <a:srgbClr val="EA703A"/>
                </a:solidFill>
                <a:latin typeface="Times New Roman" panose="02020503050405090304" pitchFamily="18" charset="0"/>
                <a:ea typeface="宋体" pitchFamily="2" charset="-122"/>
              </a:rPr>
              <a:t>思考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的系统</a:t>
            </a:r>
            <a:endParaRPr lang="zh-CN" altLang="en-US" sz="2400" b="1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algn="ctr" eaLnBrk="1" hangingPunct="1">
              <a:defRPr/>
            </a:pPr>
            <a:r>
              <a:rPr lang="en-US" altLang="zh-CN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......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有头脑的机器</a:t>
            </a:r>
            <a:endParaRPr lang="zh-CN" altLang="en-US" b="1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  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......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模拟人类的思维</a:t>
            </a:r>
            <a:endParaRPr lang="zh-CN" altLang="en-US" b="1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" name="AutoShape 10"/>
          <p:cNvSpPr>
            <a:spLocks noChangeArrowheads="1"/>
          </p:cNvSpPr>
          <p:nvPr/>
        </p:nvSpPr>
        <p:spPr bwMode="auto">
          <a:xfrm>
            <a:off x="431800" y="3106498"/>
            <a:ext cx="4419600" cy="1600201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像人一样</a:t>
            </a:r>
            <a:r>
              <a:rPr lang="zh-CN" altLang="en-US" sz="2400" b="1" dirty="0">
                <a:solidFill>
                  <a:srgbClr val="EA703A"/>
                </a:solidFill>
                <a:latin typeface="Times New Roman" panose="02020503050405090304" pitchFamily="18" charset="0"/>
                <a:ea typeface="宋体" pitchFamily="2" charset="-122"/>
              </a:rPr>
              <a:t>行动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的系统</a:t>
            </a:r>
            <a:endParaRPr lang="zh-CN" altLang="en-US" sz="2400" b="1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algn="ctr" eaLnBrk="1" hangingPunct="1"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…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</a:rPr>
              <a:t>执行人需要智能完成的功能</a:t>
            </a:r>
            <a:endParaRPr lang="zh-CN" altLang="en-US" b="1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pic>
        <p:nvPicPr>
          <p:cNvPr id="5" name="Picture 2" descr="https://gss0.bdstatic.com/94o3dSag_xI4khGkpoWK1HF6hhy/baike/w%3D268%3Bg%3D0/sign=bf9deee5402309f7e76faa144a356bce/9e3df8dcd100baa13dc6bcca4110b912c9fc2edd.jpg"/>
          <p:cNvPicPr>
            <a:picLocks noChangeAspect="1" noChangeArrowheads="1"/>
          </p:cNvPicPr>
          <p:nvPr/>
        </p:nvPicPr>
        <p:blipFill rotWithShape="1">
          <a:blip r:embed="rId1"/>
          <a:srcRect/>
          <a:stretch>
            <a:fillRect/>
          </a:stretch>
        </p:blipFill>
        <p:spPr bwMode="auto">
          <a:xfrm>
            <a:off x="5860049" y="1128158"/>
            <a:ext cx="2111590" cy="242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5807675" y="3733684"/>
            <a:ext cx="24098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60033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1pPr>
            <a:lvl2pPr indent="14287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Char char="o"/>
              <a:defRPr sz="23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黑体" panose="02010609060101010101" pitchFamily="2" charset="-122"/>
                <a:ea typeface="黑体" panose="02010609060101010101" pitchFamily="2" charset="-122"/>
              </a:rPr>
              <a:t>Alan Turing</a:t>
            </a:r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阿兰</a:t>
            </a:r>
            <a:r>
              <a:rPr lang="en-US" altLang="zh-CN" sz="1800" dirty="0">
                <a:latin typeface="黑体" panose="02010609060101010101" pitchFamily="2" charset="-122"/>
                <a:ea typeface="黑体" panose="02010609060101010101" pitchFamily="2" charset="-122"/>
              </a:rPr>
              <a:t>·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图灵</a:t>
            </a:r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718" y="1200558"/>
            <a:ext cx="3680765" cy="1914554"/>
          </a:xfrm>
          <a:prstGeom prst="rect">
            <a:avLst/>
          </a:prstGeom>
        </p:spPr>
      </p:pic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88948" y="3268836"/>
            <a:ext cx="29058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60033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1pPr>
            <a:lvl2pPr indent="14287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Char char="o"/>
              <a:defRPr sz="23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根据图灵故事拍摄的电影</a:t>
            </a:r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5715696" y="4253840"/>
            <a:ext cx="6656153" cy="2105866"/>
          </a:xfrm>
        </p:spPr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图灵于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1951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年发表论文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计算与智能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，提出图灵测试。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图灵测试：如果测试者不能确定出被测试者是人还是机器。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2" descr="å¾çµæµè¯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32497" y="4845925"/>
            <a:ext cx="1437807" cy="1839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ss2.bdstatic.com/70cFvnSh_Q1YnxGkpoWK1HF6hhy/it/u=1545431519,1608115197&amp;fm=27&amp;gp=0.jpg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 bwMode="auto">
          <a:xfrm>
            <a:off x="1365192" y="4707453"/>
            <a:ext cx="2004084" cy="168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6631459" y="934581"/>
            <a:ext cx="2579576" cy="250497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431801" y="115888"/>
            <a:ext cx="11226799" cy="685800"/>
          </a:xfrm>
        </p:spPr>
        <p:txBody>
          <a:bodyPr/>
          <a:lstStyle/>
          <a:p>
            <a:pPr algn="ctr">
              <a:defRPr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人工智能的主要领域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6617" y="1129701"/>
            <a:ext cx="6677074" cy="4530811"/>
          </a:xfrm>
        </p:spPr>
        <p:txBody>
          <a:bodyPr/>
          <a:lstStyle/>
          <a:p>
            <a:r>
              <a:rPr lang="zh-CN" altLang="en-US" dirty="0"/>
              <a:t>为了通过图灵测试，我们需要：</a:t>
            </a:r>
            <a:endParaRPr lang="en-US" altLang="zh-CN" dirty="0"/>
          </a:p>
          <a:p>
            <a:pPr lvl="1"/>
            <a:r>
              <a:rPr lang="zh-CN" altLang="en-US" dirty="0"/>
              <a:t>计算机视觉（</a:t>
            </a:r>
            <a:r>
              <a:rPr lang="en-US" altLang="zh-CN" dirty="0"/>
              <a:t>Eyes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自然语言处理（</a:t>
            </a:r>
            <a:r>
              <a:rPr lang="en-US" altLang="zh-CN" dirty="0"/>
              <a:t>Ears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知识表示与自动同理（</a:t>
            </a:r>
            <a:r>
              <a:rPr lang="en-US" altLang="zh-CN" dirty="0"/>
              <a:t>Brain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机器学习（</a:t>
            </a:r>
            <a:r>
              <a:rPr lang="en-US" altLang="zh-CN" dirty="0"/>
              <a:t>Growth of </a:t>
            </a:r>
            <a:r>
              <a:rPr lang="en-US" altLang="zh-CN" dirty="0" err="1"/>
              <a:t>Brain+Neurons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语言合成（</a:t>
            </a:r>
            <a:r>
              <a:rPr lang="en-US" altLang="zh-CN" dirty="0"/>
              <a:t>Mouth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机器人技术（</a:t>
            </a:r>
            <a:r>
              <a:rPr lang="en-US" altLang="zh-CN" dirty="0"/>
              <a:t>All Moving Parts)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748" y="1613763"/>
            <a:ext cx="1978415" cy="1360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90717" y="905911"/>
            <a:ext cx="240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脑神经科学与基础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31817" y="3994044"/>
            <a:ext cx="1414335" cy="7053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机器智能感知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749698" y="3994206"/>
            <a:ext cx="1232385" cy="68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机器智能认知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404045" y="3982701"/>
            <a:ext cx="1526059" cy="68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智能体与机器智能决策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991" y="1411080"/>
            <a:ext cx="1779366" cy="1159368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998991" y="975821"/>
            <a:ext cx="217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数据和计算科学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9496165" y="933541"/>
            <a:ext cx="2635072" cy="251922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561769" y="2709308"/>
            <a:ext cx="1211571" cy="68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机器学习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0838944" y="2709308"/>
            <a:ext cx="1241745" cy="685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0070C0"/>
                </a:solidFill>
              </a:rPr>
              <a:t>深度学习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40" name="箭头: 上下 39"/>
          <p:cNvSpPr/>
          <p:nvPr/>
        </p:nvSpPr>
        <p:spPr>
          <a:xfrm rot="16200000">
            <a:off x="9170874" y="1722144"/>
            <a:ext cx="412403" cy="858106"/>
          </a:xfrm>
          <a:prstGeom prst="upDownArrow">
            <a:avLst>
              <a:gd name="adj1" fmla="val 4217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46" y="4811859"/>
            <a:ext cx="1354940" cy="76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156" y="4811859"/>
            <a:ext cx="1705467" cy="14005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185" y="5586415"/>
            <a:ext cx="1029598" cy="6863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6999" y="5512148"/>
            <a:ext cx="1162681" cy="75398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923" y="4725345"/>
            <a:ext cx="1247757" cy="733112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657764" y="3766730"/>
            <a:ext cx="5438622" cy="2612569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/>
          <p:cNvSpPr/>
          <p:nvPr/>
        </p:nvSpPr>
        <p:spPr>
          <a:xfrm>
            <a:off x="8753720" y="3342642"/>
            <a:ext cx="1166705" cy="6853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rospike Nozzles_Liu Yu">
  <a:themeElements>
    <a:clrScheme name="">
      <a:dk1>
        <a:srgbClr val="000000"/>
      </a:dk1>
      <a:lt1>
        <a:srgbClr val="FFFFFF"/>
      </a:lt1>
      <a:dk2>
        <a:srgbClr val="CC6600"/>
      </a:dk2>
      <a:lt2>
        <a:srgbClr val="808080"/>
      </a:lt2>
      <a:accent1>
        <a:srgbClr val="FFFF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FFFFE2"/>
      </a:accent5>
      <a:accent6>
        <a:srgbClr val="E70000"/>
      </a:accent6>
      <a:hlink>
        <a:srgbClr val="0000FF"/>
      </a:hlink>
      <a:folHlink>
        <a:srgbClr val="0000FF"/>
      </a:folHlink>
    </a:clrScheme>
    <a:fontScheme name="Aerospike Nozzles_Liu Yu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WPS 文字</Application>
  <PresentationFormat>宽屏</PresentationFormat>
  <Paragraphs>54</Paragraphs>
  <Slides>4</Slides>
  <Notes>49</Notes>
  <HiddenSlides>2</HiddenSlides>
  <MMClips>4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宋体</vt:lpstr>
      <vt:lpstr>Wingdings</vt:lpstr>
      <vt:lpstr>Verdana</vt:lpstr>
      <vt:lpstr>微软雅黑</vt:lpstr>
      <vt:lpstr>Times New Roman</vt:lpstr>
      <vt:lpstr>汉仪旗黑</vt:lpstr>
      <vt:lpstr>黑体</vt:lpstr>
      <vt:lpstr>汉仪中黑KW</vt:lpstr>
      <vt:lpstr>华文中宋</vt:lpstr>
      <vt:lpstr>汉仪书宋二KW</vt:lpstr>
      <vt:lpstr>MS PGothic</vt:lpstr>
      <vt:lpstr>冬青黑体简体中文</vt:lpstr>
      <vt:lpstr>宋体</vt:lpstr>
      <vt:lpstr>Arial Unicode MS</vt:lpstr>
      <vt:lpstr>等线</vt:lpstr>
      <vt:lpstr>汉仪中等线KW</vt:lpstr>
      <vt:lpstr>Calibri</vt:lpstr>
      <vt:lpstr>Helvetica Neue</vt:lpstr>
      <vt:lpstr>微软雅黑</vt:lpstr>
      <vt:lpstr>黑体</vt:lpstr>
      <vt:lpstr>Aerospike Nozzles_Liu Yu</vt:lpstr>
      <vt:lpstr>1.1 什么是人工智能 </vt:lpstr>
      <vt:lpstr>什么是人工智能</vt:lpstr>
      <vt:lpstr>什么是人工智能</vt:lpstr>
      <vt:lpstr>人工智能的主要领域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以史为镜：“智能”是如何被人工孕育的？ </dc:title>
  <dc:creator>wwj</dc:creator>
  <cp:lastModifiedBy>高教社-刘娟</cp:lastModifiedBy>
  <cp:revision>121</cp:revision>
  <dcterms:created xsi:type="dcterms:W3CDTF">2026-02-24T15:40:08Z</dcterms:created>
  <dcterms:modified xsi:type="dcterms:W3CDTF">2026-02-24T15:40:08Z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426B5741E982475B9E7EE7304B7F51EE_12</vt:lpwstr>
  </property>
  <property fmtid="{D5CDD505-2E9C-101B-9397-08002B2CF9AE}" pid="3" name="KSOProductBuildVer">
    <vt:lpwstr>2052-12.1.24031.24031</vt:lpwstr>
  </property>
</Properties>
</file>